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85" r:id="rId2"/>
    <p:sldId id="257" r:id="rId3"/>
    <p:sldId id="258" r:id="rId4"/>
    <p:sldId id="286" r:id="rId5"/>
    <p:sldId id="287" r:id="rId6"/>
    <p:sldId id="288" r:id="rId7"/>
    <p:sldId id="289" r:id="rId8"/>
    <p:sldId id="290" r:id="rId9"/>
    <p:sldId id="294" r:id="rId10"/>
    <p:sldId id="291" r:id="rId11"/>
    <p:sldId id="292" r:id="rId12"/>
    <p:sldId id="293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682F"/>
    <a:srgbClr val="5F5F5F"/>
    <a:srgbClr val="0099CC"/>
    <a:srgbClr val="0000FF"/>
    <a:srgbClr val="006699"/>
    <a:srgbClr val="009999"/>
    <a:srgbClr val="0066CC"/>
    <a:srgbClr val="666699"/>
    <a:srgbClr val="FF66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7F2447-4073-FE62-C0C3-75D4390947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40709-3B98-DC67-4913-E586452CBC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1F9DF-F3CA-418C-8E48-F7B356B7875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C38A7-E20B-80B0-8BDE-9E37E2123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7C110-7488-6D5F-B40E-46432C8E31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0F109-BA63-4FD6-8A99-1DB5A29DE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59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D7640-3F72-24D1-7443-2282E8CF1706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56E71-EFCF-9F91-A1BB-8FF373E9F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6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0D2130-1B1B-ECF5-E934-C051E93F35C9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0ACDD3-80A2-5245-41A0-3EEB52FA0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7AB47A-A374-AE7C-0E11-8E938CD7B4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9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30D09D-960A-1FCA-82AD-1AA292596FBC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4041FD-DC37-3C20-CEE8-0103588488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051374-8A08-B2B5-3D4C-458F584ABF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5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D38F5E-6DEF-DD58-5C51-CC0FD276BE3E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2F77F8-A456-895C-D404-686DA178C4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25F6B9-8F21-2505-0C36-2BE496B8F6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2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97826-FBF2-F6D8-DDCB-D7EF39D820EE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10A869-58B9-3E31-676F-453FA039DF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436E55-F0A2-BF53-8A61-8C70589982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8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07A2F-75A8-D7CF-8C39-3499BD055D20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4DAFF-CFFD-765D-F0B1-849B4901C0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503B0F-9755-A213-7AF2-71B2FC5C90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1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66D0D-F54B-0ABB-B75C-613FEBEA1E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"/>
            <a:ext cx="12192000" cy="68542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7C8214-5533-BE70-7D3B-39BA071A7619}"/>
              </a:ext>
            </a:extLst>
          </p:cNvPr>
          <p:cNvSpPr/>
          <p:nvPr userDrawn="1"/>
        </p:nvSpPr>
        <p:spPr>
          <a:xfrm>
            <a:off x="10305288" y="5907024"/>
            <a:ext cx="1316736" cy="449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3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24B4EC-6E74-E11C-04B5-48BC193690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"/>
            <a:ext cx="12192000" cy="685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8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8A7419-0EE5-8818-BC14-5E5937C761D0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402B01-8388-1906-BE4B-25D724EFF7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BBF8F9-5BA7-01F4-CF6A-956300CB8E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0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1F74B-A620-BED1-8083-ACD3C2222B33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FE7B0-A325-9F6B-5DEA-6CFFB2DBBC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5AD06A-BD56-1758-E059-92C1C7C458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5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13F31-6E9D-2B76-A67F-6671E18E0B01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F20BC5-158B-FBD7-0661-46090C9DD1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9CD942-F6EE-95F6-92C9-66D686A7E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96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22-11-2025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613ED-840F-189B-6184-7C2E83F74658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EC0B6F-B947-A6A9-12AC-258AD1C53B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962AF7-6154-320D-76CC-8BC30D776C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7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33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cyble.com/resources/research-reports/india-threat-landscape-report-2024?utm_source=chatgpt.com" TargetMode="External"/><Relationship Id="rId3" Type="http://schemas.openxmlformats.org/officeDocument/2006/relationships/hyperlink" Target="https://www.cert-in.org.in/" TargetMode="External"/><Relationship Id="rId7" Type="http://schemas.openxmlformats.org/officeDocument/2006/relationships/hyperlink" Target="https://nvd.nist.gov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cyberswachhtakendra.gov.in/" TargetMode="External"/><Relationship Id="rId5" Type="http://schemas.openxmlformats.org/officeDocument/2006/relationships/hyperlink" Target="https://cybercrime.gov.in/" TargetMode="External"/><Relationship Id="rId4" Type="http://schemas.openxmlformats.org/officeDocument/2006/relationships/hyperlink" Target="https://www.nciipc.gov.in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64F7C6E-9292-020B-D98B-4DA88C6970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46"/>
          <a:stretch/>
        </p:blipFill>
        <p:spPr>
          <a:xfrm>
            <a:off x="3496725" y="917254"/>
            <a:ext cx="4398540" cy="1253096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A387DA2D-CC07-D03F-FDD1-6A97636D3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25" y="2236445"/>
            <a:ext cx="8153400" cy="8144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Aft>
                <a:spcPts val="600"/>
              </a:spcAft>
              <a:defRPr/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Cambria,Bold"/>
              </a:rPr>
              <a:t>SCHOOL OF COMPUTING AND INFORMATION TECHNOLOGY</a:t>
            </a:r>
            <a:endParaRPr lang="en-US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5CAB48-855E-68C9-DD86-7E1181C96461}"/>
              </a:ext>
            </a:extLst>
          </p:cNvPr>
          <p:cNvSpPr txBox="1">
            <a:spLocks noChangeArrowheads="1"/>
          </p:cNvSpPr>
          <p:nvPr/>
        </p:nvSpPr>
        <p:spPr>
          <a:xfrm>
            <a:off x="1897299" y="3108154"/>
            <a:ext cx="7772400" cy="731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b="1" dirty="0">
                <a:solidFill>
                  <a:srgbClr val="42040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Real-Time Cyber Threat Intelligence Platform for Indian Cyberspace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32FC2AE-6BFD-5C39-2022-FC74EEF08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873" y="4711700"/>
            <a:ext cx="39624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Presented By: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RABI RAHUL(R22EJ117)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 MUKESH (R22EJ143)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NEZIL NASAR (R22EJ170)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IN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IN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67F15-2D1E-4262-4A12-AD65E0C57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033" y="2580097"/>
            <a:ext cx="590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Major Project </a:t>
            </a:r>
            <a:r>
              <a:rPr lang="en-IN" altLang="en-US" sz="24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Phase-I </a:t>
            </a:r>
            <a:endParaRPr lang="en-IN" altLang="en-US" sz="24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DA4D68-660B-160A-1EC9-F6555F1E3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1275" y="3959307"/>
            <a:ext cx="5905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 the Supervision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Prof. </a:t>
            </a:r>
            <a:r>
              <a:rPr lang="en-IN" altLang="en-US" sz="2000" b="1" dirty="0" err="1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Vijayalaxmi</a:t>
            </a:r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 </a:t>
            </a:r>
            <a:r>
              <a:rPr lang="en-IN" altLang="en-US" sz="2000" b="1" dirty="0" err="1">
                <a:solidFill>
                  <a:srgbClr val="00321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Handaragall</a:t>
            </a:r>
            <a:endParaRPr lang="en-IN" altLang="en-US" sz="2000" b="1" dirty="0">
              <a:solidFill>
                <a:srgbClr val="00321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58528CF-9F02-21FB-E5F2-81211EBEC5FC}"/>
              </a:ext>
            </a:extLst>
          </p:cNvPr>
          <p:cNvSpPr txBox="1">
            <a:spLocks/>
          </p:cNvSpPr>
          <p:nvPr/>
        </p:nvSpPr>
        <p:spPr bwMode="auto">
          <a:xfrm>
            <a:off x="423863" y="4529138"/>
            <a:ext cx="584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 kern="1200">
                <a:solidFill>
                  <a:srgbClr val="404040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BDA1FE1B-6CFE-4C53-BB06-15E8994F9ED8}" type="slidenum">
              <a:rPr lang="en-US" altLang="en-US" smtClean="0">
                <a:solidFill>
                  <a:srgbClr val="FEFFFF"/>
                </a:solidFill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>
              <a:solidFill>
                <a:srgbClr val="FE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FF162-48A1-DC4A-2C01-B76DCD25F651}"/>
              </a:ext>
            </a:extLst>
          </p:cNvPr>
          <p:cNvSpPr txBox="1"/>
          <p:nvPr/>
        </p:nvSpPr>
        <p:spPr>
          <a:xfrm>
            <a:off x="1719072" y="6382512"/>
            <a:ext cx="22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DATE: 11.10.2025</a:t>
            </a:r>
          </a:p>
        </p:txBody>
      </p:sp>
    </p:spTree>
    <p:extLst>
      <p:ext uri="{BB962C8B-B14F-4D97-AF65-F5344CB8AC3E}">
        <p14:creationId xmlns:p14="http://schemas.microsoft.com/office/powerpoint/2010/main" val="4096696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86869-93D5-0654-C99F-5FA986DBC4BA}"/>
              </a:ext>
            </a:extLst>
          </p:cNvPr>
          <p:cNvSpPr txBox="1"/>
          <p:nvPr/>
        </p:nvSpPr>
        <p:spPr>
          <a:xfrm>
            <a:off x="1014984" y="1377387"/>
            <a:ext cx="102626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Introduction (Background)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Problem Statement (Motivation)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Scope of the Project (Social / Environmental Impact)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Methodology (Approach)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Expected Outcomes (Deliverables)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Target Users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Q&amp;A</a:t>
            </a:r>
          </a:p>
          <a:p>
            <a:pPr marL="342900" indent="-342900">
              <a:buFont typeface="+mj-lt"/>
              <a:buAutoNum type="alphaLcParenR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  <a:p>
            <a:pPr eaLnBrk="1" hangingPunct="1"/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I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D98654-5983-C7D4-227D-14C216E88BC9}"/>
              </a:ext>
            </a:extLst>
          </p:cNvPr>
          <p:cNvSpPr txBox="1"/>
          <p:nvPr/>
        </p:nvSpPr>
        <p:spPr>
          <a:xfrm>
            <a:off x="1014984" y="505123"/>
            <a:ext cx="56144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400" dirty="0">
                <a:latin typeface="+mj-lt"/>
                <a:cs typeface="Calibri" panose="020F0502020204030204" pitchFamily="34" charset="0"/>
              </a:rPr>
              <a:t>Overview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740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4337D5B-1826-0986-3948-569137CE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19907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8" name="Picture 7" descr="A computer with a shield and lines">
            <a:extLst>
              <a:ext uri="{FF2B5EF4-FFF2-40B4-BE49-F238E27FC236}">
                <a16:creationId xmlns:a16="http://schemas.microsoft.com/office/drawing/2014/main" id="{9551572D-B6B2-7745-2B57-00B1EDB0B2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649" y="2073325"/>
            <a:ext cx="3026097" cy="249155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B32480F-B250-749A-5470-36E97A43F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645470"/>
            <a:ext cx="834428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India’s rapid digital growth in banking, healthcare, e-commerce, public services, and critical infrastructure increases exposure to cyber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attacks include ransomware, phishing, UPI frauds, data breaches, and exploitation of new vulnerabilities.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victims lack awareness of emerging threats due to delayed access to real-time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Agencies like CERT-In, NCIIPC, and I4C exist, but public and SMEs still lack a unified, real-time cyber threat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builds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Cyber Threat Intelligence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providing alerts, malicious link detection, and India-focused cybercrime updates.</a:t>
            </a:r>
          </a:p>
        </p:txBody>
      </p:sp>
    </p:spTree>
    <p:extLst>
      <p:ext uri="{BB962C8B-B14F-4D97-AF65-F5344CB8AC3E}">
        <p14:creationId xmlns:p14="http://schemas.microsoft.com/office/powerpoint/2010/main" val="280304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25E34-0120-59AE-7A05-69251A4F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909AACD-D03B-0797-2AAD-82FBDE166806}"/>
              </a:ext>
            </a:extLst>
          </p:cNvPr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3431E3-9808-D86D-473E-1E88F8CAC9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40877C9-A032-396F-6B46-37A7E3C1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49ACAF-8B7E-A949-EF21-48577912ADB8}"/>
              </a:ext>
            </a:extLst>
          </p:cNvPr>
          <p:cNvSpPr txBox="1"/>
          <p:nvPr/>
        </p:nvSpPr>
        <p:spPr>
          <a:xfrm>
            <a:off x="840251" y="1688565"/>
            <a:ext cx="110066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absence of a unified, publicly accessible platform that delivers real-time cyber threat alerts, vulnerability disclosures, malicious link detection, and India-specific cyber incident reporting results in delayed response measures and increased exposure to cyberattacks for individuals, organizations, and critical sectors.</a:t>
            </a:r>
          </a:p>
        </p:txBody>
      </p:sp>
      <p:pic>
        <p:nvPicPr>
          <p:cNvPr id="4" name="Picture 3" descr="A shield with a map and icons&#10;&#10;AI-generated content may be incorrect.">
            <a:extLst>
              <a:ext uri="{FF2B5EF4-FFF2-40B4-BE49-F238E27FC236}">
                <a16:creationId xmlns:a16="http://schemas.microsoft.com/office/drawing/2014/main" id="{7FB4B331-29A6-7D8D-8036-5949E2D47B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937" y="3174903"/>
            <a:ext cx="2855025" cy="2855025"/>
          </a:xfrm>
          <a:prstGeom prst="rect">
            <a:avLst/>
          </a:prstGeom>
        </p:spPr>
      </p:pic>
      <p:pic>
        <p:nvPicPr>
          <p:cNvPr id="7" name="Picture 6" descr="A computer screen with icons on it&#10;&#10;AI-generated content may be incorrect.">
            <a:extLst>
              <a:ext uri="{FF2B5EF4-FFF2-40B4-BE49-F238E27FC236}">
                <a16:creationId xmlns:a16="http://schemas.microsoft.com/office/drawing/2014/main" id="{7000F266-DD49-3917-1CF7-EF2A0F6BF7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063" y="3113793"/>
            <a:ext cx="2977243" cy="297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45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69F6F-79F7-57D3-D2A2-ABF6C656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3421C34-4D2C-A947-B0DE-19AA1B3DE8E8}"/>
              </a:ext>
            </a:extLst>
          </p:cNvPr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A39BC4-2EA2-082C-5097-09EA815809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F3F5382-467C-EB3B-0534-792C5B89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and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455F7-4E8A-BA6D-445B-21CA7F74B341}"/>
              </a:ext>
            </a:extLst>
          </p:cNvPr>
          <p:cNvSpPr txBox="1"/>
          <p:nvPr/>
        </p:nvSpPr>
        <p:spPr>
          <a:xfrm>
            <a:off x="838199" y="1496308"/>
            <a:ext cx="1064523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Primary Objective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develop a </a:t>
            </a:r>
            <a:r>
              <a:rPr lang="en-US" sz="2000" b="1" dirty="0"/>
              <a:t>unified real-time cyber threat intelligence platform</a:t>
            </a:r>
            <a:r>
              <a:rPr lang="en-US" sz="2000" dirty="0"/>
              <a:t> that provides instant alerts on cyber incidents, vulnerabilities, and malicious activities affecting Indian cyberspace.</a:t>
            </a:r>
          </a:p>
          <a:p>
            <a:endParaRPr lang="en-US" sz="2000" dirty="0"/>
          </a:p>
          <a:p>
            <a:r>
              <a:rPr lang="en-US" sz="2000" b="1" dirty="0"/>
              <a:t>Secondary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Gather and classify threat information from trusted sources and show alerts, news, and trends in a single dashboard based on severity for Indian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 link-scanning and public reporting tools to detect scams and help users take early action against cyberattacks like data theft, ransomware, and fraud.</a:t>
            </a:r>
          </a:p>
          <a:p>
            <a:endParaRPr lang="en-US" sz="2000" dirty="0"/>
          </a:p>
          <a:p>
            <a:r>
              <a:rPr lang="en-US" sz="2000" b="1" dirty="0"/>
              <a:t>Social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Promotes a safer digital environment by increasing public awareness of emerging cyber threats and vulnerabilities.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Supports individuals, small organizations, and critical sectors in preventing cyber frauds, data loss, and service disruptions through early alerts and informed action.</a:t>
            </a:r>
          </a:p>
          <a:p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900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C328E-A2C5-4C40-A032-41CC8F82B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3975C74-5D17-7257-2D12-A36684AD488C}"/>
              </a:ext>
            </a:extLst>
          </p:cNvPr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2B6B48-BE6F-A434-B52F-D5308DCE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CBE9AA0-047F-94FF-8B99-EDB1BFE07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(Approach)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3A9B1-450A-7463-677D-9DEB6D4F4966}"/>
              </a:ext>
            </a:extLst>
          </p:cNvPr>
          <p:cNvSpPr txBox="1"/>
          <p:nvPr/>
        </p:nvSpPr>
        <p:spPr>
          <a:xfrm>
            <a:off x="842050" y="1641835"/>
            <a:ext cx="87599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Data Collection</a:t>
            </a:r>
          </a:p>
          <a:p>
            <a:r>
              <a:rPr lang="en-US" dirty="0"/>
              <a:t>Connect to cyber-threat sources and Indian CERT feeds.</a:t>
            </a:r>
          </a:p>
          <a:p>
            <a:r>
              <a:rPr lang="en-US" dirty="0"/>
              <a:t>Gather incident data in real time.</a:t>
            </a:r>
          </a:p>
          <a:p>
            <a:r>
              <a:rPr lang="en-US" b="1" dirty="0"/>
              <a:t>2. Monitoring Pipeline</a:t>
            </a:r>
          </a:p>
          <a:p>
            <a:r>
              <a:rPr lang="en-US" dirty="0"/>
              <a:t>Continuously track and filter India-specific incidents.</a:t>
            </a:r>
          </a:p>
          <a:p>
            <a:r>
              <a:rPr lang="en-US" dirty="0"/>
              <a:t>Maintain a smooth real-time flow.</a:t>
            </a:r>
          </a:p>
          <a:p>
            <a:r>
              <a:rPr lang="en-US" b="1" dirty="0"/>
              <a:t>3. Incident Analysis</a:t>
            </a:r>
          </a:p>
          <a:p>
            <a:r>
              <a:rPr lang="en-US" dirty="0"/>
              <a:t>Classify incidents by type and severity.</a:t>
            </a:r>
          </a:p>
          <a:p>
            <a:r>
              <a:rPr lang="en-US" dirty="0"/>
              <a:t>Highlight high-priority alerts.</a:t>
            </a:r>
          </a:p>
          <a:p>
            <a:r>
              <a:rPr lang="en-US" b="1" dirty="0"/>
              <a:t>4. Dashboard</a:t>
            </a:r>
          </a:p>
          <a:p>
            <a:r>
              <a:rPr lang="en-US" dirty="0"/>
              <a:t>Display live incident updates and trends.</a:t>
            </a:r>
          </a:p>
          <a:p>
            <a:r>
              <a:rPr lang="en-US" dirty="0"/>
              <a:t>Provide a simple, clear interface.</a:t>
            </a:r>
          </a:p>
          <a:p>
            <a:r>
              <a:rPr lang="en-US" b="1" dirty="0"/>
              <a:t>5. Security</a:t>
            </a:r>
          </a:p>
          <a:p>
            <a:r>
              <a:rPr lang="en-US" dirty="0"/>
              <a:t>Protect data and follow Indian cyber guidelines.</a:t>
            </a:r>
          </a:p>
          <a:p>
            <a:r>
              <a:rPr lang="en-US" dirty="0"/>
              <a:t>Ensure safe and compliant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902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41172-064D-ADBF-EE33-621F42C8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A734603-E751-3B1C-7AD1-1661827ED925}"/>
              </a:ext>
            </a:extLst>
          </p:cNvPr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5AD0E7-3011-C281-19FE-667E3A2A3C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7E8A245-56FF-BC41-A01C-ABF8F476A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/ Risks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BD0BC0-1FBD-BDDB-9214-E10D8750D1A8}"/>
              </a:ext>
            </a:extLst>
          </p:cNvPr>
          <p:cNvSpPr txBox="1"/>
          <p:nvPr/>
        </p:nvSpPr>
        <p:spPr>
          <a:xfrm>
            <a:off x="838200" y="1592981"/>
            <a:ext cx="87599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Data Reliability</a:t>
            </a:r>
          </a:p>
          <a:p>
            <a:r>
              <a:rPr lang="en-US" b="1" dirty="0"/>
              <a:t>Risk:</a:t>
            </a:r>
            <a:r>
              <a:rPr lang="en-US" dirty="0"/>
              <a:t> Some feeds may be delayed or incomplete.</a:t>
            </a:r>
            <a:br>
              <a:rPr lang="en-US" dirty="0"/>
            </a:br>
            <a:r>
              <a:rPr lang="en-US" b="1" dirty="0"/>
              <a:t>Mitigation:</a:t>
            </a:r>
            <a:r>
              <a:rPr lang="en-US" dirty="0"/>
              <a:t> Use multiple trusted sources to cross-verify data</a:t>
            </a:r>
          </a:p>
          <a:p>
            <a:r>
              <a:rPr lang="en-US" dirty="0"/>
              <a:t>.</a:t>
            </a:r>
          </a:p>
          <a:p>
            <a:r>
              <a:rPr lang="en-US" b="1" dirty="0"/>
              <a:t>2. Real-Time Accuracy</a:t>
            </a:r>
          </a:p>
          <a:p>
            <a:r>
              <a:rPr lang="en-US" b="1" dirty="0"/>
              <a:t>Risk:</a:t>
            </a:r>
            <a:r>
              <a:rPr lang="en-US" dirty="0"/>
              <a:t> System may detect false positives during high activity.</a:t>
            </a:r>
            <a:br>
              <a:rPr lang="en-US" dirty="0"/>
            </a:br>
            <a:r>
              <a:rPr lang="en-US" b="1" dirty="0"/>
              <a:t>Mitigation:</a:t>
            </a:r>
            <a:r>
              <a:rPr lang="en-US" dirty="0"/>
              <a:t> Add filtering rules and validation checks.</a:t>
            </a:r>
          </a:p>
          <a:p>
            <a:endParaRPr lang="en-US" dirty="0"/>
          </a:p>
          <a:p>
            <a:r>
              <a:rPr lang="en-US" b="1" dirty="0"/>
              <a:t>3. Security of the Tool</a:t>
            </a:r>
          </a:p>
          <a:p>
            <a:r>
              <a:rPr lang="en-US" b="1" dirty="0"/>
              <a:t>Risk:</a:t>
            </a:r>
            <a:r>
              <a:rPr lang="en-US" dirty="0"/>
              <a:t> Processing cyber-incident data may attract attacks.</a:t>
            </a:r>
            <a:br>
              <a:rPr lang="en-US" dirty="0"/>
            </a:br>
            <a:r>
              <a:rPr lang="en-US" b="1" dirty="0"/>
              <a:t>Mitigation:</a:t>
            </a:r>
            <a:r>
              <a:rPr lang="en-US" dirty="0"/>
              <a:t> Encrypt data and use secure access controls.</a:t>
            </a:r>
          </a:p>
          <a:p>
            <a:endParaRPr lang="en-US" dirty="0"/>
          </a:p>
          <a:p>
            <a:r>
              <a:rPr lang="en-US" b="1" dirty="0"/>
              <a:t>4. Scalability</a:t>
            </a:r>
          </a:p>
          <a:p>
            <a:r>
              <a:rPr lang="en-US" b="1" dirty="0"/>
              <a:t>Risk:</a:t>
            </a:r>
            <a:r>
              <a:rPr lang="en-US" dirty="0"/>
              <a:t> Large incident volume can slow performance.</a:t>
            </a:r>
            <a:br>
              <a:rPr lang="en-US" dirty="0"/>
            </a:br>
            <a:r>
              <a:rPr lang="en-US" b="1" dirty="0"/>
              <a:t>Mitigation:</a:t>
            </a:r>
            <a:r>
              <a:rPr lang="en-US" dirty="0"/>
              <a:t> Use scalable cloud or distributed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78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58CD-4C0E-6E30-3E7E-3D0FA633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CD14F27-C761-2272-5878-7EEEF2992C38}"/>
              </a:ext>
            </a:extLst>
          </p:cNvPr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78F977-2E37-107C-9E18-1CC7654D43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92258BF-CF7A-2CD8-94D0-D0202459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 (Deliverables)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AF69CE6-F201-2787-D451-E06CEC402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87" y="1440333"/>
            <a:ext cx="1077406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Real-Time Threat Alerts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Instantly alerts users about ongoing cyber incidents and newly discovered vulnerabilities.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organizations and citizens take preventive action before exploitation occurs.</a:t>
            </a:r>
          </a:p>
          <a:p>
            <a:r>
              <a:rPr lang="en-US" b="1" dirty="0"/>
              <a:t>2.   Malicious Link Detection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Scans suspicious URLs shared through SMS, email, and social media for phishing and malware.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online fraud by identifying scam websites before users access them.</a:t>
            </a:r>
          </a:p>
          <a:p>
            <a:r>
              <a:rPr lang="en-US" b="1" dirty="0"/>
              <a:t>3.   Unified Cyber Dashboard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Displays vulnerability advisories, cybercrime news, user-submitted threats, and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Serves as a one-stop platform for monitoring risks affecting Indian cyberspace.</a:t>
            </a:r>
          </a:p>
          <a:p>
            <a:r>
              <a:rPr lang="en-US" b="1" dirty="0"/>
              <a:t>4.   Public Threat Reporting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users to report fraud links, scam phone numbers, malicious apps, and phishing emails.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law enforcement and cybersecurity agencies in tracking emerging threats.</a:t>
            </a:r>
          </a:p>
          <a:p>
            <a:r>
              <a:rPr lang="en-US" b="1" dirty="0"/>
              <a:t>5.   Improved Security Readiness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Encourages timely patching, threat mitigation, and awareness-driven defense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Lowers risk of data breaches, ransomware attacks, and financial losses for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50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1F7FEB-45F4-9A6A-61C0-02E0F6F06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43"/>
            <a:ext cx="12192000" cy="682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85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0AC9-754C-F079-7CB1-F4029A162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90A89CD-AC0E-D058-3365-7A5C8437BD92}"/>
              </a:ext>
            </a:extLst>
          </p:cNvPr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2CC430-0CC7-9DE8-3691-5F884B7E82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07DCD8A-7516-4E78-21B0-B8F1B2A6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(End) User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DBE1F4-6A4C-E65A-541F-89B24612848F}"/>
              </a:ext>
            </a:extLst>
          </p:cNvPr>
          <p:cNvSpPr txBox="1"/>
          <p:nvPr/>
        </p:nvSpPr>
        <p:spPr>
          <a:xfrm>
            <a:off x="921327" y="1592981"/>
            <a:ext cx="93983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Citizens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check suspicious links, avoid scams (UPI, job fraud, phishing), and report threats.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cyber awareness and safe digital practices.</a:t>
            </a:r>
          </a:p>
          <a:p>
            <a:endParaRPr lang="en-US" dirty="0"/>
          </a:p>
          <a:p>
            <a:r>
              <a:rPr lang="en-US" b="1" dirty="0"/>
              <a:t>2. Small and Medium Enterprises (SMEs)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 timely vulnerability alerts without needing a dedicated security team.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prevent data breaches and ransomware by early patching.</a:t>
            </a:r>
          </a:p>
          <a:p>
            <a:endParaRPr lang="en-US" dirty="0"/>
          </a:p>
          <a:p>
            <a:r>
              <a:rPr lang="en-US" b="1" dirty="0"/>
              <a:t>3. Critical Infrastructure Organizations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Sectors like banking, healthcare, power, telecom etc. get high-severity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faster mitigation and reduces disruption of essential services.</a:t>
            </a:r>
          </a:p>
          <a:p>
            <a:endParaRPr lang="en-US" dirty="0"/>
          </a:p>
          <a:p>
            <a:r>
              <a:rPr lang="en-US" b="1" dirty="0"/>
              <a:t>4. Cyber Cells &amp; Law Enforcement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reported data to detect scams, trace attacks, and raise public awareness.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Enhances investigation with real-time threat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07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C5B8F-7DD1-7720-928E-3A079743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54A02ED-CEB7-72B0-0442-8B00B4B2A72D}"/>
              </a:ext>
            </a:extLst>
          </p:cNvPr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51E119-DEA1-7C5D-78CD-3F77196680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22C7009-0D71-AB8A-A403-84FBEF55C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853" y="62110"/>
            <a:ext cx="10515600" cy="1325563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AF486-FEB1-52B5-7E27-6FD923050FA2}"/>
              </a:ext>
            </a:extLst>
          </p:cNvPr>
          <p:cNvSpPr txBox="1"/>
          <p:nvPr/>
        </p:nvSpPr>
        <p:spPr>
          <a:xfrm>
            <a:off x="705853" y="1082320"/>
            <a:ext cx="9287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657D82-84B4-0A4F-8300-4B2A9997C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53" y="1082320"/>
            <a:ext cx="1028511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CERT-In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Emergency Response Team India – Advisories &amp; Alerts.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Ministry of Electronics and Information Technology, Government of India. Retrieved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https://www.cert-in.org.in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NCIIPC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Critical Information Infrastructure Protection Centre – Threat Reports &amp; Guidance.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Government of India. Retrieved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https://www.nciipc.gov.in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Cybercrime Coordination Centre (I4C).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Cybercrime Reporting Portal.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Ministry of Home Affairs, Government of India. Retrieved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https://cybercrime.gov.in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Swachhta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Kendra.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Botnet Cleaning and Malware Analysis Centre.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https://www.cyberswachhtakendra.gov.in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Vulnerability Database (NVD).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Vulnerabilities and Exposures (CVE) Reports.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https://nvd.nist.gov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Cyble</a:t>
            </a:r>
            <a:r>
              <a:rPr lang="en-US" dirty="0"/>
              <a:t> Research. (2024). </a:t>
            </a:r>
            <a:r>
              <a:rPr lang="en-US" i="1" dirty="0"/>
              <a:t>India Threat Landscape Report 2024.</a:t>
            </a:r>
            <a:r>
              <a:rPr lang="en-US" dirty="0"/>
              <a:t> Retrieved from </a:t>
            </a:r>
            <a:r>
              <a:rPr lang="en-US" dirty="0">
                <a:hlinkClick r:id="rId8"/>
              </a:rPr>
              <a:t>https://cyble.com/resources/research-reports/india-threat-landscape-report-2024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70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BB605-FB8E-F072-018C-DF71EA34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F29F2BE-F82F-D794-FEAC-A3FD084E5820}"/>
              </a:ext>
            </a:extLst>
          </p:cNvPr>
          <p:cNvSpPr/>
          <p:nvPr/>
        </p:nvSpPr>
        <p:spPr>
          <a:xfrm>
            <a:off x="11375258" y="6029928"/>
            <a:ext cx="4716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Slab" pitchFamily="2" charset="0"/>
                <a:ea typeface="Roboto Slab" pitchFamily="2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10504E-00A5-B70E-21DA-F9F4A0669C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6F984E-CFAD-1B69-DC15-D1DCCAEA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20232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1111CBB-FD54-4F31-B47E-B211674C3374}"/>
              </a:ext>
            </a:extLst>
          </p:cNvPr>
          <p:cNvSpPr txBox="1"/>
          <p:nvPr/>
        </p:nvSpPr>
        <p:spPr>
          <a:xfrm>
            <a:off x="2190050" y="2531296"/>
            <a:ext cx="7811900" cy="1685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 anchor="b">
            <a:spAutoFit/>
          </a:bodyPr>
          <a:lstStyle>
            <a:lvl1pPr algn="ctr">
              <a:lnSpc>
                <a:spcPct val="90000"/>
              </a:lnSpc>
              <a:defRPr sz="8800" b="1">
                <a:solidFill>
                  <a:srgbClr val="F27E2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r>
              <a:rPr lang="en-US" sz="1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</a:t>
            </a:r>
            <a:endParaRPr sz="1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87" y="5823109"/>
            <a:ext cx="3646344" cy="832385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4305993" y="6255384"/>
            <a:ext cx="788600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542781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1013</TotalTime>
  <Words>1037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Cambria,Bold</vt:lpstr>
      <vt:lpstr>Roboto</vt:lpstr>
      <vt:lpstr>Roboto Slab</vt:lpstr>
      <vt:lpstr>Office Theme</vt:lpstr>
      <vt:lpstr>PowerPoint Presentation</vt:lpstr>
      <vt:lpstr>PowerPoint Presentation</vt:lpstr>
      <vt:lpstr>Introduction</vt:lpstr>
      <vt:lpstr>Problem Statement</vt:lpstr>
      <vt:lpstr>Scope and Objectives</vt:lpstr>
      <vt:lpstr>Methodology (Approach)</vt:lpstr>
      <vt:lpstr>Challenges / Risks</vt:lpstr>
      <vt:lpstr>Expected Outcomes (Deliverables)</vt:lpstr>
      <vt:lpstr>PowerPoint Presentation</vt:lpstr>
      <vt:lpstr>Target (End) User</vt:lpstr>
      <vt:lpstr>References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Dileep Suresha Naik</dc:creator>
  <cp:lastModifiedBy>Rabi Rahul</cp:lastModifiedBy>
  <cp:revision>81</cp:revision>
  <dcterms:created xsi:type="dcterms:W3CDTF">2023-08-10T08:59:21Z</dcterms:created>
  <dcterms:modified xsi:type="dcterms:W3CDTF">2025-11-21T20:43:17Z</dcterms:modified>
</cp:coreProperties>
</file>